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PRESENTACIÓN · AVANCE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900" b="1">
                <a:solidFill>
                  <a:srgbClr val="EEF6FF"/>
                </a:solidFill>
                <a:latin typeface="Aptos"/>
              </a:rPr>
              <a:t>Pedidos360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BB5D0"/>
                </a:solidFill>
                <a:latin typeface="Aptos"/>
              </a:rPr>
              <a:t>Mensajería Cloud Native con RabbitMQ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01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t>Trabajo realizado, decisiones técnicas y resultados</a:t>
            </a:r>
          </a:p>
        </p:txBody>
      </p:sp>
      <p:pic>
        <p:nvPicPr>
          <p:cNvPr id="9" name="Picture 8" descr="01-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6720840" cy="3794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965960"/>
            <a:ext cx="3977639" cy="3794760"/>
          </a:xfrm>
          <a:prstGeom prst="roundRect">
            <a:avLst/>
          </a:prstGeom>
          <a:solidFill>
            <a:srgbClr val="15304F"/>
          </a:solidFill>
          <a:ln w="15240">
            <a:solidFill>
              <a:srgbClr val="36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331720"/>
            <a:ext cx="329184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OBJETIVO DE LA PRESENTACIÓN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788920"/>
            <a:ext cx="3154680" cy="10515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Compartir con la profesora y nuestros compañeros cómo evolucionó Pedidos360 en este nuevo avance y mostrar las evidencias de que la integración funciona.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663440"/>
            <a:ext cx="3017520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DSY1107 · EP4</a:t>
            </a:r>
            <a:br/>
            <a:r>
              <a:t>Pedidos360</a:t>
            </a:r>
            <a:br/>
            <a:r>
              <a:t>Avance técnico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01 · PAUTA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Qué incorporamos en este avance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En esta presentación mostramos las mejoras implementadas, cómo se integran y qué resultados obtuvimos al probarlas.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pauta EP4 · PDF proporcionado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03520" cy="4160520"/>
          </a:xfrm>
          <a:prstGeom prst="roundRect">
            <a:avLst/>
          </a:prstGeom>
          <a:solidFill>
            <a:srgbClr val="0F223A"/>
          </a:solidFill>
          <a:ln w="15240">
            <a:solidFill>
              <a:srgbClr val="2C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663440" cy="33832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6FF"/>
                </a:solidFill>
                <a:latin typeface="Aptos"/>
              </a:defRPr>
            </a:pPr>
            <a:r>
              <a:t>Seguridad e integración entre frontend, BFF y microservicios</a:t>
            </a:r>
            <a:br/>
            <a:r>
              <a:t>Autenticación OIDC con Keycloak y validación JWT</a:t>
            </a:r>
            <a:br/>
            <a:r>
              <a:t>Clúster RabbitMQ con dos nodos</a:t>
            </a:r>
            <a:br/>
            <a:r>
              <a:t>Exchanges direct/topic, tres colas y DLQ</a:t>
            </a:r>
            <a:br/>
            <a:r>
              <a:t>ACK/NACK manual, reintentos y manejo de errores</a:t>
            </a:r>
            <a:br/>
            <a:r>
              <a:t>Servicio administrador y validación de parámetros</a:t>
            </a:r>
          </a:p>
        </p:txBody>
      </p:sp>
      <p:pic>
        <p:nvPicPr>
          <p:cNvPr id="11" name="Picture 10" descr="05-captura-ruta-tr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1206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02 ·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Cómo quedó integrado Pedidos360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El usuario inicia sesión, el frontend consume el BFF y los microservicios publican eventos hacia RabbitMQ.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docs/architecture.md · docker-compose.yml</a:t>
            </a:r>
          </a:p>
        </p:txBody>
      </p:sp>
      <p:pic>
        <p:nvPicPr>
          <p:cNvPr id="9" name="Picture 8" descr="01-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744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03 ·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Autenticación incorporada y comprobada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Integramos autenticación OAuth 2.0 / OpenID Connect y verificamos el flujo local con Keycloak.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docs/ep3/06-evidencias-rubrica.md §2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657600" cy="4160520"/>
          </a:xfrm>
          <a:prstGeom prst="roundRect">
            <a:avLst/>
          </a:prstGeom>
          <a:solidFill>
            <a:srgbClr val="0F223A"/>
          </a:solidFill>
          <a:ln w="15240">
            <a:solidFill>
              <a:srgbClr val="2C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18288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6CDDC"/>
                </a:solidFill>
                <a:latin typeface="Courier New"/>
              </a:rPr>
              <a:t>EVIDENCIA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3017520" cy="27432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Authorization Code + PKCE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id_token + access_token + refresh_token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aud = pedidos360-api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azp = pedidos360-web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roles = ADMIN, USER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BFF/Admin: 401 → 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920240"/>
            <a:ext cx="6903720" cy="4160520"/>
          </a:xfrm>
          <a:prstGeom prst="roundRect">
            <a:avLst/>
          </a:prstGeom>
          <a:solidFill>
            <a:srgbClr val="15304F"/>
          </a:solidFill>
          <a:ln w="15240">
            <a:solidFill>
              <a:srgbClr val="F6B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286000"/>
            <a:ext cx="2286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6B53A"/>
                </a:solidFill>
                <a:latin typeface="Courier New"/>
              </a:rPr>
              <a:t>LÍMITE HONESTO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743200"/>
            <a:ext cx="5943600" cy="10972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400" b="1">
                <a:solidFill>
                  <a:srgbClr val="EEF6FF"/>
                </a:solidFill>
                <a:latin typeface="Aptos"/>
              </a:rPr>
              <a:t>El login productivo contra Entra ID no se declara probado porque requiere tenant y Client ID reales.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297680"/>
            <a:ext cx="5852160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0">
                <a:solidFill>
                  <a:srgbClr val="9BB5D0"/>
                </a:solidFill>
                <a:latin typeface="Aptos"/>
              </a:rPr>
              <a:t>Esto no invalida la evidencia local: el mecanismo OIDC y la protección de recursos sí fueron verificados con Keycloak.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04 ·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Nuevo clúster RabbitMQ de 2 nodos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Agregamos la infraestructura, el proceso de unión del segundo nodo y la verificación del estado del clúster.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scripts/rabbitmq-status.ps1 · docs/ep3/05-pruebas-integracion.md</a:t>
            </a:r>
          </a:p>
        </p:txBody>
      </p:sp>
      <p:pic>
        <p:nvPicPr>
          <p:cNvPr id="9" name="Picture 8" descr="01-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212080" cy="4389120"/>
          </a:xfrm>
          <a:prstGeom prst="rect">
            <a:avLst/>
          </a:prstGeom>
        </p:spPr>
      </p:pic>
      <p:pic>
        <p:nvPicPr>
          <p:cNvPr id="10" name="Picture 9" descr="02-topologia-rabbitm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28800"/>
            <a:ext cx="5440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05 · TOPOLOGÍA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Nueva topología de mensajería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Definimos rutas claras para eventos, errores y mensajes que no pudieron procesarse.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RabbitMQConfig.java · docs/ep3/06-evidencias-rubrica.md</a:t>
            </a:r>
          </a:p>
        </p:txBody>
      </p:sp>
      <p:pic>
        <p:nvPicPr>
          <p:cNvPr id="9" name="Picture 8" descr="02-topologia-rabbitm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537960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828800"/>
            <a:ext cx="4069080" cy="4434840"/>
          </a:xfrm>
          <a:prstGeom prst="roundRect">
            <a:avLst/>
          </a:prstGeom>
          <a:solidFill>
            <a:srgbClr val="0F223A"/>
          </a:solidFill>
          <a:ln w="15240">
            <a:solidFill>
              <a:srgbClr val="2C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9260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6CDDC"/>
                </a:solidFill>
                <a:latin typeface="Courier New"/>
              </a:rPr>
              <a:t>DECISIONES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60320"/>
            <a:ext cx="3200400" cy="32004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direct.exchange: eventos puntuales y errores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topic.exchange: ruteo por patrón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pedidos.pedido.#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productos.producto.#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auditoría escucha #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DLX común + DLQ por dominio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06 · RESILIENCIA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Nuevo manejo de fallos en los consumidores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Implementamos confirmación manual, reintentos y envío controlado a DLQ para evitar reprocesos infinitos.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ManualAckRabbitHandler.java · pruebas DLQ</a:t>
            </a:r>
          </a:p>
        </p:txBody>
      </p:sp>
      <p:pic>
        <p:nvPicPr>
          <p:cNvPr id="9" name="Picture 8" descr="03-ack-nack-dl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858000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1874519"/>
            <a:ext cx="3703320" cy="4297680"/>
          </a:xfrm>
          <a:prstGeom prst="roundRect">
            <a:avLst/>
          </a:prstGeom>
          <a:solidFill>
            <a:srgbClr val="15304F"/>
          </a:solidFill>
          <a:ln w="15240">
            <a:solidFill>
              <a:srgbClr val="E7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27432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7CD85"/>
                </a:solidFill>
                <a:latin typeface="Courier New"/>
              </a:rPr>
              <a:t>FLUJO VERIFICADO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06040"/>
            <a:ext cx="2834640" cy="29260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3 intentos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500 ms de backoff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basicAck en éxito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basicNack(..., false) en fallo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DLX → DLQ</a:t>
            </a:r>
          </a:p>
          <a:p>
            <a:pPr>
              <a:spcAft>
                <a:spcPts val="900"/>
              </a:spcAft>
              <a:defRPr sz="1500">
                <a:solidFill>
                  <a:srgbClr val="EEF6FF"/>
                </a:solidFill>
                <a:latin typeface="Aptos"/>
              </a:defRPr>
            </a:pPr>
            <a:r>
              <a:t>x-death en integración E2E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07 ·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Nuevo microservicio RabbitMQ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Creamos una API REST para consultar y administrar RabbitMQ sin exponer sus credenciales ni detalles internos al frontend.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AdminController.java · RabbitAdminService.java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120640" cy="4389120"/>
          </a:xfrm>
          <a:prstGeom prst="roundRect">
            <a:avLst/>
          </a:prstGeom>
          <a:solidFill>
            <a:srgbClr val="0F223A"/>
          </a:solidFill>
          <a:ln w="15240">
            <a:solidFill>
              <a:srgbClr val="2C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18288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6CDDC"/>
                </a:solidFill>
                <a:latin typeface="Courier New"/>
              </a:rPr>
              <a:t>API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4297680" cy="310896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GET /admin/queues|exchanges|bindings|dlq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POST /admin/queues|exchanges|bindings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DELETE /admin/queues/{name}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DELETE /admin/exchanges/{name}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DELETE /admin/queues/{name}/messages</a:t>
            </a:r>
          </a:p>
          <a:p>
            <a:pPr>
              <a:spcAft>
                <a:spcPts val="900"/>
              </a:spcAft>
              <a:defRPr sz="1400">
                <a:solidFill>
                  <a:srgbClr val="EEF6FF"/>
                </a:solidFill>
                <a:latin typeface="Aptos"/>
              </a:defRPr>
            </a:pPr>
            <a:r>
              <a:t>POST /admin/messages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394960" cy="4389120"/>
          </a:xfrm>
          <a:prstGeom prst="roundRect">
            <a:avLst/>
          </a:prstGeom>
          <a:solidFill>
            <a:srgbClr val="15304F"/>
          </a:solidFill>
          <a:ln w="15240">
            <a:solidFill>
              <a:srgbClr val="F6B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18288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6B53A"/>
                </a:solidFill>
                <a:latin typeface="Courier New"/>
              </a:rPr>
              <a:t>CAPAS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4480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200" b="1">
                <a:solidFill>
                  <a:srgbClr val="EEF6FF"/>
                </a:solidFill>
                <a:latin typeface="Courier New"/>
              </a:rPr>
              <a:t>AdminController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82112"/>
            <a:ext cx="3657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36CDDC"/>
                </a:solidFill>
                <a:latin typeface="Apto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4480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200" b="1">
                <a:solidFill>
                  <a:srgbClr val="EEF6FF"/>
                </a:solidFill>
                <a:latin typeface="Courier New"/>
              </a:rPr>
              <a:t>RabbitAdminService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968496"/>
            <a:ext cx="3657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36CDDC"/>
                </a:solidFill>
                <a:latin typeface="Aptos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97680"/>
            <a:ext cx="4480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900" b="1">
                <a:solidFill>
                  <a:srgbClr val="EEF6FF"/>
                </a:solidFill>
                <a:latin typeface="Courier New"/>
              </a:rPr>
              <a:t>RabbitManagementHttpClient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166360"/>
            <a:ext cx="44805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47CD85"/>
                </a:solidFill>
                <a:latin typeface="Courier New"/>
              </a:rPr>
              <a:t>28/28 tests · ROLE_ADMIN · 400/502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08 ·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Qué resultados obtuvimos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Las pruebas registradas muestran que las nuevas piezas compilan, se integran y responden como esperamos.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09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docs/ep3/06-evidencias-rubrica.md §2</a:t>
            </a:r>
          </a:p>
        </p:txBody>
      </p:sp>
      <p:pic>
        <p:nvPicPr>
          <p:cNvPr id="9" name="Picture 8" descr="04-prueb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315200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828800"/>
            <a:ext cx="3291840" cy="4434840"/>
          </a:xfrm>
          <a:prstGeom prst="roundRect">
            <a:avLst/>
          </a:prstGeom>
          <a:solidFill>
            <a:srgbClr val="0F223A"/>
          </a:solidFill>
          <a:ln w="15240">
            <a:solidFill>
              <a:srgbClr val="2C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331720"/>
            <a:ext cx="265176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3500" b="1">
                <a:solidFill>
                  <a:srgbClr val="47CD85"/>
                </a:solidFill>
                <a:latin typeface="Aptos"/>
              </a:rPr>
              <a:t>8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971800"/>
            <a:ext cx="265176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EEF6FF"/>
                </a:solidFill>
                <a:latin typeface="Aptos"/>
              </a:rPr>
              <a:t>indicadores de la rúbrica implementados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069080"/>
            <a:ext cx="265176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6CDDC"/>
                </a:solidFill>
                <a:latin typeface="Courier New"/>
              </a:rPr>
              <a:t>Validación adicional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34840"/>
            <a:ext cx="265176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9BB5D0"/>
                </a:solidFill>
                <a:latin typeface="Courier New"/>
              </a:rPr>
              <a:t>DTOs · @Valid · @NotBlank
@Size · @Pattern
Errores por campo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5720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900" b="1">
                <a:solidFill>
                  <a:srgbClr val="36CDDC"/>
                </a:solidFill>
                <a:latin typeface="Courier New"/>
              </a:rPr>
              <a:t>09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19456"/>
            <a:ext cx="164592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900" b="0">
                <a:solidFill>
                  <a:srgbClr val="9BB5D0"/>
                </a:solidFill>
                <a:latin typeface="Courier New"/>
              </a:rPr>
              <a:t>DSY1107 · EP4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Cierre del avance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El avance mantiene lo que ya funcionaba y agrega capacidades de seguridad, resiliencia y administración.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9BB5D0"/>
                </a:solidFill>
                <a:latin typeface="Courier New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10528"/>
            <a:ext cx="969264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9BB5D0"/>
                </a:solidFill>
                <a:latin typeface="Courier New"/>
              </a:rPr>
              <a:t>Fuente: docs/ep3/06-evidencias-rubrica.md · docs/ep3/07-guion-presentacion.md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2423160" cy="1188720"/>
          </a:xfrm>
          <a:prstGeom prst="roundRect">
            <a:avLst/>
          </a:prstGeom>
          <a:solidFill>
            <a:srgbClr val="15304F"/>
          </a:solidFill>
          <a:ln w="15240">
            <a:solidFill>
              <a:srgbClr val="4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4231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47CD85"/>
                </a:solidFill>
                <a:latin typeface="Aptos"/>
              </a:rPr>
              <a:t>8/8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224028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9BB5D0"/>
                </a:solidFill>
                <a:latin typeface="Courier New"/>
              </a:rPr>
              <a:t>indicadores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057400"/>
            <a:ext cx="2423160" cy="1188720"/>
          </a:xfrm>
          <a:prstGeom prst="roundRect">
            <a:avLst/>
          </a:prstGeom>
          <a:solidFill>
            <a:srgbClr val="15304F"/>
          </a:solidFill>
          <a:ln w="15240">
            <a:solidFill>
              <a:srgbClr val="36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304288"/>
            <a:ext cx="24231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36CDD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24028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9BB5D0"/>
                </a:solidFill>
                <a:latin typeface="Courier New"/>
              </a:rPr>
              <a:t>nodos RabbitMQ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057400"/>
            <a:ext cx="2423160" cy="1188720"/>
          </a:xfrm>
          <a:prstGeom prst="roundRect">
            <a:avLst/>
          </a:prstGeom>
          <a:solidFill>
            <a:srgbClr val="15304F"/>
          </a:solidFill>
          <a:ln w="15240">
            <a:solidFill>
              <a:srgbClr val="F6B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04288"/>
            <a:ext cx="24231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F6B53A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834640"/>
            <a:ext cx="224028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9BB5D0"/>
                </a:solidFill>
                <a:latin typeface="Courier New"/>
              </a:rPr>
              <a:t>colas + DLQ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057400"/>
            <a:ext cx="2423160" cy="1188720"/>
          </a:xfrm>
          <a:prstGeom prst="roundRect">
            <a:avLst/>
          </a:prstGeom>
          <a:solidFill>
            <a:srgbClr val="15304F"/>
          </a:solidFill>
          <a:ln w="15240">
            <a:solidFill>
              <a:srgbClr val="4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304288"/>
            <a:ext cx="24231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47CD85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834640"/>
            <a:ext cx="224028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9BB5D0"/>
                </a:solidFill>
                <a:latin typeface="Courier New"/>
              </a:rPr>
              <a:t>fallos reportados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94760"/>
            <a:ext cx="10789920" cy="1417320"/>
          </a:xfrm>
          <a:prstGeom prst="roundRect">
            <a:avLst/>
          </a:prstGeom>
          <a:solidFill>
            <a:srgbClr val="0F223A"/>
          </a:solidFill>
          <a:ln w="15240">
            <a:solidFill>
              <a:srgbClr val="2C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069080"/>
            <a:ext cx="18288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t>LO QUE NOS LLEVAMOS DE ESTE AVANCE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89120"/>
            <a:ext cx="100126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t>En este avance incorporamos la integración cloud y la mensajería robusta que necesitaba Pedidos360. A continuación podemos mostrar cada flujo y responder las preguntas sobre nuestras decisiones técnicas.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3327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t>Pendiente declarado: configuración del tenant real de Entra ID para producción.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Pedidos360 · Presentación del avance EP4</dc:title>
  <dc:subject>Presentación para profesora y compañeros sobre el avance del proyecto</dc:subject>
  <dc:creator>Pedidos360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